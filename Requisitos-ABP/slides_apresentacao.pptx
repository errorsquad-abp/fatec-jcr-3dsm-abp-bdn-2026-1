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4jfv/YhLZJfQucJ4sciGwBuys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7132320" y="73152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FATEC JACAREÍ  ·  BANCO DE DADOS NÃO RELACIONAL 2026/1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777240"/>
            <a:ext cx="6400800" cy="2743200"/>
          </a:xfrm>
          <a:prstGeom prst="roundRect">
            <a:avLst>
              <a:gd fmla="val 4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777240"/>
            <a:ext cx="91440" cy="274320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5800" y="96012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SISTEMA DE GESTÃO DE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141732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1000 Valle Multimarcas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5800" y="22402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Projeto ABP  ·  MongoDB  ·  Modelagem Não Relacional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114800"/>
            <a:ext cx="8229600" cy="54864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Equipe ErrorSquad  ·  Felipe Pacheco  |  Leonardo Irineu  |  Carlos Eduardo  |  João Vitor  |  Arthur Facchinetti  |  Caio Araujo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858000" y="3474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●  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CONTEXTUALIZAÇÃO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 Desafio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097280"/>
            <a:ext cx="3931920" cy="2651760"/>
          </a:xfrm>
          <a:prstGeom prst="roundRect">
            <a:avLst>
              <a:gd fmla="val 413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097280"/>
            <a:ext cx="73152" cy="265176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1188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🏢  CONTEXTO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150876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1000 Valle Multimarcas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Revendedora multi-unidades.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Leads chegam por: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📱  WhatsApp / Instagram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🚶  Visita presencial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📞  Telefone / Formulários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480560" y="1097280"/>
            <a:ext cx="4297680" cy="2651760"/>
          </a:xfrm>
          <a:prstGeom prst="roundRect">
            <a:avLst>
              <a:gd fmla="val 413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480560" y="1097280"/>
            <a:ext cx="73152" cy="265176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663440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📋  REQUISITOS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63440" y="1508760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6 coleções obrigatórias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Embedding + Referencing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Inserção mínima de dados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Consultas c/ filtro, projeção, sort, paginação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Aggregations gerenciais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886200"/>
            <a:ext cx="8412480" cy="1097280"/>
          </a:xfrm>
          <a:prstGeom prst="roundRect">
            <a:avLst>
              <a:gd fmla="val 1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4 REGRAS DE NEGÓCIO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4206240"/>
            <a:ext cx="1920240" cy="594360"/>
          </a:xfrm>
          <a:prstGeom prst="roundRect">
            <a:avLst>
              <a:gd fmla="val 184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40080" y="4251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Lead → Cliente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606040" y="4206240"/>
            <a:ext cx="1920240" cy="594360"/>
          </a:xfrm>
          <a:prstGeom prst="roundRect">
            <a:avLst>
              <a:gd fmla="val 184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697480" y="4251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Lead → Loja + Atendente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63440" y="4206240"/>
            <a:ext cx="1920240" cy="594360"/>
          </a:xfrm>
          <a:prstGeom prst="roundRect">
            <a:avLst>
              <a:gd fmla="val 184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754880" y="4251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1 negociação ativa / lead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720840" y="4206240"/>
            <a:ext cx="1920240" cy="594360"/>
          </a:xfrm>
          <a:prstGeom prst="roundRect">
            <a:avLst>
              <a:gd fmla="val 18462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812280" y="4251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Histórico registrado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— COLEÇÕES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As 6 Coleções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65760" y="1097280"/>
            <a:ext cx="4114800" cy="1170432"/>
          </a:xfrm>
          <a:prstGeom prst="roundRect">
            <a:avLst>
              <a:gd fmla="val 937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365760" y="1097280"/>
            <a:ext cx="73152" cy="1170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2070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987552" y="120700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clientes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675888" y="1207008"/>
            <a:ext cx="65836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675888" y="120700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30352" y="1627632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Dados cadastrais do cliente interessado.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709160" y="1097280"/>
            <a:ext cx="4114800" cy="1170432"/>
          </a:xfrm>
          <a:prstGeom prst="roundRect">
            <a:avLst>
              <a:gd fmla="val 937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4709160" y="1097280"/>
            <a:ext cx="73152" cy="1170432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12070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5330952" y="120700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leads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8019288" y="1207008"/>
            <a:ext cx="65836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019288" y="120700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REF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873752" y="1627632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Oportunidade comercial gerada a partir do interesse do cliente.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65760" y="2395728"/>
            <a:ext cx="4114800" cy="1170432"/>
          </a:xfrm>
          <a:prstGeom prst="roundRect">
            <a:avLst>
              <a:gd fmla="val 937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65760" y="2395728"/>
            <a:ext cx="73152" cy="1170432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25054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987552" y="25054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lojas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675888" y="2505456"/>
            <a:ext cx="65836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675888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REF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30352" y="292608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Unidades físicas da 1000 Valle Multimarcas.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709160" y="2395728"/>
            <a:ext cx="4114800" cy="1170432"/>
          </a:xfrm>
          <a:prstGeom prst="roundRect">
            <a:avLst>
              <a:gd fmla="val 937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709160" y="2395728"/>
            <a:ext cx="73152" cy="11704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3752" y="25054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5330952" y="25054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usuarios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019288" y="2505456"/>
            <a:ext cx="65836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8019288" y="2505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73752" y="292608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Atendentes, gerentes e administradores do sistema.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65760" y="3694176"/>
            <a:ext cx="4114800" cy="1170432"/>
          </a:xfrm>
          <a:prstGeom prst="roundRect">
            <a:avLst>
              <a:gd fmla="val 937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65760" y="3694176"/>
            <a:ext cx="73152" cy="1170432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8039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987552" y="380390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negociacoes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675888" y="3803904"/>
            <a:ext cx="65836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675888" y="380390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30352" y="422452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Processo comercial do lead. Histórico embutido (embedding).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09160" y="3694176"/>
            <a:ext cx="4114800" cy="1170432"/>
          </a:xfrm>
          <a:prstGeom prst="roundRect">
            <a:avLst>
              <a:gd fmla="val 9375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09160" y="3694176"/>
            <a:ext cx="73152" cy="1170432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3752" y="38039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5330952" y="3803904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019288" y="3803904"/>
            <a:ext cx="65836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8019288" y="380390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REF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73752" y="422452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Trilha de auditoria das operações realizadas no sistema.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65760" y="4754880"/>
            <a:ext cx="8412480" cy="274320"/>
          </a:xfrm>
          <a:prstGeom prst="roundRect">
            <a:avLst>
              <a:gd fmla="val 4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48640" y="478231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🟩  EMBED = Embedding     🟦  REF = Referencing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— DIAGRAMA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Mapa de Relacionamentos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8412480" cy="397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— DETALHES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Coleção: leads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365760" y="1005840"/>
            <a:ext cx="4572000" cy="4023360"/>
          </a:xfrm>
          <a:prstGeom prst="roundRect">
            <a:avLst>
              <a:gd fmla="val 272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548640" y="1097280"/>
            <a:ext cx="420624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en-US" sz="10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_id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nomeLead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String,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clienteId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ObjectId,    </a:t>
            </a: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← REF</a:t>
            </a:r>
            <a:b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lojaId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ObjectId,    </a:t>
            </a: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← REF</a:t>
            </a:r>
            <a:b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atendenteId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ObjectId,  </a:t>
            </a: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← REF</a:t>
            </a:r>
            <a:b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origem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'whatsapp' | 'visita' ...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status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'novo' | 'em_atendimento' ...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importancia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'alta' | 'media' | 'baixa'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120640" y="1005840"/>
            <a:ext cx="3566160" cy="1097280"/>
          </a:xfrm>
          <a:prstGeom prst="roundRect">
            <a:avLst>
              <a:gd fmla="val 1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5303520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clienteId  →  clientes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303520" y="138988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Dados do cliente atualizados centralmente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120640" y="2240280"/>
            <a:ext cx="3566160" cy="1097280"/>
          </a:xfrm>
          <a:prstGeom prst="roundRect">
            <a:avLst>
              <a:gd fmla="val 1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5303520" y="2331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lojaId  →  lojas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303520" y="26243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Permite análise de leads por unidade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120640" y="3474720"/>
            <a:ext cx="3566160" cy="1097280"/>
          </a:xfrm>
          <a:prstGeom prst="roundRect">
            <a:avLst>
              <a:gd fmla="val 1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5303520" y="3566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atendenteId  →  usuarios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303520" y="38587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Performance por atendente via aggregation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65760" y="4709160"/>
            <a:ext cx="8412480" cy="320040"/>
          </a:xfrm>
          <a:prstGeom prst="roundRect">
            <a:avLst>
              <a:gd fmla="val 34286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🔗  leads é o hub central: referencia clientes, lojas e atendentes via ObjectId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— DETALHES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Coleção: negociacoes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65760" y="1005840"/>
            <a:ext cx="4846320" cy="4023360"/>
          </a:xfrm>
          <a:prstGeom prst="roundRect">
            <a:avLst>
              <a:gd fmla="val 272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548640" y="1097280"/>
            <a:ext cx="448056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b="0" i="0" lang="en-US" sz="10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_id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leadId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ObjectId,    </a:t>
            </a:r>
            <a: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← REF</a:t>
            </a:r>
            <a:br>
              <a:rPr b="1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valorProposto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Number,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status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String,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ativo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Boolean,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  historico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[         </a:t>
            </a:r>
            <a:r>
              <a:rPr b="1" i="0" lang="en-US" sz="10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← EMBEDDED</a:t>
            </a:r>
            <a:br>
              <a:rPr b="1" i="0" lang="en-US" sz="10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data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Date,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evento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String,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obs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String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394960" y="1005840"/>
            <a:ext cx="3291840" cy="2377440"/>
          </a:xfrm>
          <a:prstGeom prst="roundRect">
            <a:avLst>
              <a:gd fmla="val 4615" name="adj"/>
            </a:avLst>
          </a:prstGeom>
          <a:solidFill>
            <a:srgbClr val="00684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5394960" y="1005840"/>
            <a:ext cx="73152" cy="237744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/>
          <p:nvPr/>
        </p:nvSpPr>
        <p:spPr>
          <a:xfrm>
            <a:off x="5577840" y="1097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577840" y="1417320"/>
            <a:ext cx="2926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historico[]</a:t>
            </a:r>
            <a:br>
              <a:rPr b="1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Pertence 100% à negociação</a:t>
            </a:r>
            <a:b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Lido sempre junto</a:t>
            </a:r>
            <a:b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Nunca reutilizado</a:t>
            </a:r>
            <a:b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✦  Crescimento previsível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394960" y="3520440"/>
            <a:ext cx="3291840" cy="1097280"/>
          </a:xfrm>
          <a:prstGeom prst="roundRect">
            <a:avLst>
              <a:gd fmla="val 1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394960" y="3520440"/>
            <a:ext cx="73152" cy="10972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5577840" y="36118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leadId  →  leads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577840" y="3931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Rastreia qual negociação pertence a qual lead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365760" y="4709160"/>
            <a:ext cx="8412480" cy="320040"/>
          </a:xfrm>
          <a:prstGeom prst="roundRect">
            <a:avLst>
              <a:gd fmla="val 34286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🔑  Índice parcial único: apenas 1 negociação ativa por lead  →  db.negociacoes.createIndex({ leadId:1, ativo:1 }, { unique:true, partialFilterExpression: { ativo:true } })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NÃO RELACIONAL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365760" y="4572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Referencing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65760" y="960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Documentos ligados por ObjectId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65760" y="1371600"/>
            <a:ext cx="4114800" cy="1920240"/>
          </a:xfrm>
          <a:prstGeom prst="roundRect">
            <a:avLst>
              <a:gd fmla="val 5714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48640" y="146304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Entidades com vida própria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Reutilizadas por múltiplos documentos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Atualizadas de forma centralizada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Evita duplicação de dados cadastrais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754880" y="457200"/>
            <a:ext cx="4023360" cy="4389120"/>
          </a:xfrm>
          <a:prstGeom prst="roundRect">
            <a:avLst>
              <a:gd fmla="val 2727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4937760" y="594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lead {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937760" y="987552"/>
            <a:ext cx="3566160" cy="18288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937760" y="105156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clienteId: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ObjectId  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→ clientes</a:t>
            </a:r>
            <a:b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lojaId: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ObjectId  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→ lojas</a:t>
            </a:r>
            <a:b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atendenteId: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ObjectId  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→ usuarios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937760" y="26060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negociacao {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937760" y="2926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leadId: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ObjectId  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→ leads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937760" y="3520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log {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937760" y="3822192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usuarioId: 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ObjectId  </a:t>
            </a:r>
            <a:r>
              <a:rPr b="1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→ usuarios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65760" y="3429000"/>
            <a:ext cx="4114800" cy="54864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548640" y="34930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🔗  Vantagem: atualização única reflete em todos os documentos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NÃO RELACIONAL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365760" y="4572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365760" y="960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Documentos dentro de documentos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365760" y="1371600"/>
            <a:ext cx="4114800" cy="1920240"/>
          </a:xfrm>
          <a:prstGeom prst="roundRect">
            <a:avLst>
              <a:gd fmla="val 5714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548640" y="146304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Dados lidos sempre juntos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Pertence a um único documento pai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Crescimento controlado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Sem necessidade de atualização independente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754880" y="457200"/>
            <a:ext cx="4023360" cy="4389120"/>
          </a:xfrm>
          <a:prstGeom prst="roundRect">
            <a:avLst>
              <a:gd fmla="val 2727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4937760" y="594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negociacao {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4937760" y="987552"/>
            <a:ext cx="3566160" cy="18288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4937760" y="10515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leadId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ObjectId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valorProposto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Number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status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String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  historico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{  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evento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obs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r>
              <a:rPr b="1" i="0" lang="en-US" sz="10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  ← EMBEDDED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4937760" y="3657600"/>
            <a:ext cx="3474720" cy="822960"/>
          </a:xfrm>
          <a:prstGeom prst="roundRect">
            <a:avLst>
              <a:gd fmla="val 13333" name="adj"/>
            </a:avLst>
          </a:prstGeom>
          <a:solidFill>
            <a:srgbClr val="00684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749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"/>
          <p:cNvSpPr/>
          <p:nvPr/>
        </p:nvSpPr>
        <p:spPr>
          <a:xfrm>
            <a:off x="5486400" y="374904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negociacoes.historico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5486400" y="400507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Histórico embutido diretamente na negociação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65760" y="3429000"/>
            <a:ext cx="4114800" cy="54864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548640" y="34930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⚡  Vantagem: uma leitura = dados completos, sem joins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MODELAGEM NÃO RELACIONAL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Critério de Decisão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65760" y="1097280"/>
            <a:ext cx="3931920" cy="3474720"/>
          </a:xfrm>
          <a:prstGeom prst="roundRect">
            <a:avLst>
              <a:gd fmla="val 315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365760" y="1097280"/>
            <a:ext cx="73152" cy="347472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11430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/>
          <p:nvPr/>
        </p:nvSpPr>
        <p:spPr>
          <a:xfrm>
            <a:off x="54864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548640" y="160020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negociacoes.historico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Por quê?</a:t>
            </a:r>
            <a:br>
              <a:rPr b="1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Histórico pertence unicamente à negociação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Lido sempre em conjunto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Cresce de forma controlada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Ciclo de vida idêntico ao documento pai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480560" y="1097280"/>
            <a:ext cx="4297680" cy="3474720"/>
          </a:xfrm>
          <a:prstGeom prst="roundRect">
            <a:avLst>
              <a:gd fmla="val 3158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4480560" y="1097280"/>
            <a:ext cx="73152" cy="34747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040" y="11430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/>
          <p:nvPr/>
        </p:nvSpPr>
        <p:spPr>
          <a:xfrm>
            <a:off x="466344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REFERENCING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663440" y="1600200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leads, clientes, lojas, usuarios, logs</a:t>
            </a:r>
            <a:b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1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Por quê?</a:t>
            </a:r>
            <a:br>
              <a:rPr b="1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Entidades reutilizadas por múltiplos docs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Dados cadastrais com vida própria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Atualização centralizada</a:t>
            </a:r>
            <a:b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• Indicadores por loja, atendente,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fmla="val 30000" name="adj"/>
            </a:avLst>
          </a:prstGeom>
          <a:solidFill>
            <a:srgbClr val="00684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Regra:  dados lidos sempre juntos  →  EMBEDDING    ·    entidades reutilizáveis  →  REFERENCING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INSERÇÃO DE DADOS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Dados Inseridos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65760" y="1005840"/>
            <a:ext cx="8412480" cy="347472"/>
          </a:xfrm>
          <a:prstGeom prst="roundRect">
            <a:avLst>
              <a:gd fmla="val 31579" name="adj"/>
            </a:avLst>
          </a:prstGeom>
          <a:solidFill>
            <a:srgbClr val="00684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57200" y="10332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Coleção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965960" y="10332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Docs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017520" y="10332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Destaque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983480" y="103327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Regra aplicada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65760" y="1408176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365760" y="1408176"/>
            <a:ext cx="73152" cy="457200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087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/>
          <p:nvPr/>
        </p:nvSpPr>
        <p:spPr>
          <a:xfrm>
            <a:off x="795528" y="14996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lojas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984248" y="1499616"/>
            <a:ext cx="475488" cy="256032"/>
          </a:xfrm>
          <a:prstGeom prst="roundRect">
            <a:avLst>
              <a:gd fmla="val 4285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1984248" y="149961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017520" y="14813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Centro · Norte · Sul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983480" y="148132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IDs fixos — referenciados por leads e negociações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65760" y="1920240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365760" y="1920240"/>
            <a:ext cx="73152" cy="45720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02082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795528" y="20116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usuarios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1984248" y="2011680"/>
            <a:ext cx="475488" cy="256032"/>
          </a:xfrm>
          <a:prstGeom prst="roundRect">
            <a:avLst>
              <a:gd fmla="val 4285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1984248" y="201168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017520" y="199339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3 atendentes · 1 gerente · 1 admin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983480" y="1993392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Campo cargo define papel no fluxo e na auditoria (logs)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65760" y="2432304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365760" y="2432304"/>
            <a:ext cx="73152" cy="45720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53288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795528" y="25237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984248" y="2523744"/>
            <a:ext cx="475488" cy="256032"/>
          </a:xfrm>
          <a:prstGeom prst="roundRect">
            <a:avLst>
              <a:gd fmla="val 4285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1984248" y="252374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3017520" y="2505456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Dados cadastrais independentes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983480" y="250545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Entidade independente — referenciada via clienteId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65760" y="2944368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65760" y="2944368"/>
            <a:ext cx="73152" cy="45720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304495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/>
          <p:nvPr/>
        </p:nvSpPr>
        <p:spPr>
          <a:xfrm>
            <a:off x="795528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leads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1984248" y="3035808"/>
            <a:ext cx="475488" cy="256032"/>
          </a:xfrm>
          <a:prstGeom prst="roundRect">
            <a:avLst>
              <a:gd fmla="val 4285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1984248" y="3035808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017520" y="301752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3 origens · 4 status · importância variada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983480" y="3017520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REF para clienteId, lojaId e atendenteId — hub central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365760" y="3456432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365760" y="3456432"/>
            <a:ext cx="73152" cy="45720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35570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795528" y="35478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negociacoes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984248" y="3547872"/>
            <a:ext cx="475488" cy="256032"/>
          </a:xfrm>
          <a:prstGeom prst="roundRect">
            <a:avLst>
              <a:gd fmla="val 4285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1984248" y="3547872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017520" y="352958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historico[]  ←  EMBEDDING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983480" y="3529584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ativo: true garante 1 negociação ativa por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65760" y="3968496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365760" y="3968496"/>
            <a:ext cx="73152" cy="457200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" y="406908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7"/>
          <p:cNvSpPr/>
          <p:nvPr/>
        </p:nvSpPr>
        <p:spPr>
          <a:xfrm>
            <a:off x="795528" y="405993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1984248" y="4059936"/>
            <a:ext cx="475488" cy="256032"/>
          </a:xfrm>
          <a:prstGeom prst="roundRect">
            <a:avLst>
              <a:gd fmla="val 4285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1984248" y="405993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017520" y="404164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criação + atualização de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983480" y="404164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Vincula usuarioId + referenciaId — rastreabilidade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Operadores de Consulta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65760" y="105156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65760" y="1051560"/>
            <a:ext cx="73152" cy="109728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530352" y="1143000"/>
            <a:ext cx="777240" cy="27432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1015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30352" y="11430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$and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389888" y="1161288"/>
            <a:ext cx="685800" cy="219456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1389888" y="116128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Lógico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30352" y="15087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Todas as condições devem ser verdadeiras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30352" y="180136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status novo  AND  origem whatsapp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228600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65760" y="2286000"/>
            <a:ext cx="73152" cy="109728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30352" y="2377440"/>
            <a:ext cx="777240" cy="27432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1015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530352" y="23774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$or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389888" y="2395728"/>
            <a:ext cx="685800" cy="219456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1389888" y="239572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Lógico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30352" y="2743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Ao menos uma condição deve ser verdadeira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530352" y="303580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origem whatsapp  OR  instagram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365760" y="352044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365760" y="3520440"/>
            <a:ext cx="73152" cy="10972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530352" y="3611880"/>
            <a:ext cx="777240" cy="27432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101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30352" y="3611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$gt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389888" y="3630168"/>
            <a:ext cx="685800" cy="219456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389888" y="363016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30352" y="3977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Maior que o valor especificado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30352" y="42702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valorProposto  &gt;  30000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663440" y="105156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663440" y="1051560"/>
            <a:ext cx="73152" cy="10972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828032" y="1143000"/>
            <a:ext cx="777240" cy="27432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101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828032" y="11430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$lt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687568" y="1161288"/>
            <a:ext cx="777240" cy="219456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5687568" y="116128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Comparação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828032" y="15087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Menor que o valor especificado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828032" y="180136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valorProposto  &lt;  120000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663440" y="228600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4663440" y="2286000"/>
            <a:ext cx="73152" cy="1097280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828032" y="2377440"/>
            <a:ext cx="777240" cy="27432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1015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828032" y="23774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$exists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5687568" y="2395728"/>
            <a:ext cx="777240" cy="219456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5687568" y="239572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Elemento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828032" y="2743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Verifica se o campo existe no documento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828032" y="303580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email  $exists: true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663440" y="3520440"/>
            <a:ext cx="4114800" cy="109728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663440" y="3520440"/>
            <a:ext cx="73152" cy="1097280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4828032" y="3611880"/>
            <a:ext cx="777240" cy="274320"/>
          </a:xfrm>
          <a:prstGeom prst="roundRect">
            <a:avLst>
              <a:gd fmla="val 20000" name="adj"/>
            </a:avLst>
          </a:prstGeom>
          <a:solidFill>
            <a:srgbClr val="1C2333"/>
          </a:solidFill>
          <a:ln cap="flat" cmpd="sng" w="1015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4828032" y="3611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687568" y="3630168"/>
            <a:ext cx="777240" cy="219456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5687568" y="363016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Array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828032" y="3977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Valor está dentro de uma lista definida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828032" y="42702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status  $in:  ['novo', 'em_atendimento']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Consultas na Prática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365760" y="1051560"/>
            <a:ext cx="8412480" cy="1965960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365760" y="1051560"/>
            <a:ext cx="73152" cy="196596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548640" y="112471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01  ·  Leads ativos por canal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486400" y="1143000"/>
            <a:ext cx="822960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5486400" y="11430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$and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492240" y="1143000"/>
            <a:ext cx="822960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6492240" y="11430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$or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7498080" y="1143000"/>
            <a:ext cx="822960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7498080" y="114300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48640" y="1481328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db.leads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.find({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$and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{ status: {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$in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: ["novo", "em_atendimento"] } },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{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$or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: [{ origem: 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"whatsapp"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}, { origem: 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"instagram"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}]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806440" y="1444752"/>
            <a:ext cx="2834640" cy="1417320"/>
          </a:xfrm>
          <a:prstGeom prst="roundRect">
            <a:avLst>
              <a:gd fmla="val 7742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5943600" y="1536192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$and</a:t>
            </a: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exige ambas as condições</a:t>
            </a:r>
            <a:b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$or</a:t>
            </a: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qualquer das origens</a:t>
            </a:r>
            <a:b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$in</a:t>
            </a: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filtra status de forma compacta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65760" y="3154680"/>
            <a:ext cx="8412480" cy="1920240"/>
          </a:xfrm>
          <a:prstGeom prst="roundRect">
            <a:avLst>
              <a:gd fmla="val 5714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365760" y="3154680"/>
            <a:ext cx="73152" cy="192024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548640" y="32278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02  ·  Leads recentes com paginação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120640" y="3246120"/>
            <a:ext cx="102412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5120640" y="324612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projeção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6263640" y="3246120"/>
            <a:ext cx="102412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6263640" y="324612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.sort()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7406640" y="3246120"/>
            <a:ext cx="1024128" cy="201168"/>
          </a:xfrm>
          <a:prstGeom prst="roundRect">
            <a:avLst>
              <a:gd fmla="val 22727" name="adj"/>
            </a:avLst>
          </a:prstGeom>
          <a:solidFill>
            <a:srgbClr val="1C2333"/>
          </a:solidFill>
          <a:ln cap="flat" cmpd="sng" w="9525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7406640" y="324612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.skip/limit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48640" y="356616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db.leads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.find({}, { nomeLead: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status: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origem: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_id:</a:t>
            </a: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b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.sort({ createdAt:</a:t>
            </a:r>
            <a:r>
              <a:rPr b="0" i="0" lang="en-US" sz="10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-1 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b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.skip(</a:t>
            </a: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).limit(</a:t>
            </a:r>
            <a:r>
              <a:rPr b="0" i="0" lang="en-US" sz="100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5806440" y="3547872"/>
            <a:ext cx="2834640" cy="1371600"/>
          </a:xfrm>
          <a:prstGeom prst="roundRect">
            <a:avLst>
              <a:gd fmla="val 8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5943600" y="3639312"/>
            <a:ext cx="2560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9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 = inclui</a:t>
            </a: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_id:0 = oculta</a:t>
            </a:r>
            <a:b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9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sort -1</a:t>
            </a: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mais recente primeiro</a:t>
            </a:r>
            <a:b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skip(0) limit(5)</a:t>
            </a:r>
            <a:r>
              <a:rPr b="0" i="0" lang="en-US" sz="9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página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OTIMIZAÇÃO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365760" y="1005840"/>
            <a:ext cx="8412480" cy="457200"/>
          </a:xfrm>
          <a:prstGeom prst="roundRect">
            <a:avLst>
              <a:gd fmla="val 24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365760" y="1005840"/>
            <a:ext cx="73152" cy="45720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548640" y="1078992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Índices aceleram consultas frequentes e reduzem o tempo de 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ao evitar varredura completa da coleção.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365760" y="1600200"/>
            <a:ext cx="4114800" cy="2606040"/>
          </a:xfrm>
          <a:prstGeom prst="roundRect">
            <a:avLst>
              <a:gd fmla="val 421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365760" y="1600200"/>
            <a:ext cx="73152" cy="260604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548640" y="16733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leads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502920" y="2057400"/>
            <a:ext cx="3840480" cy="420624"/>
          </a:xfrm>
          <a:prstGeom prst="roundRect">
            <a:avLst>
              <a:gd fmla="val 26087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640080" y="213055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clienteId: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2450592" y="2148840"/>
            <a:ext cx="18288" cy="21945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2542032" y="213055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Filtros por cliente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02920" y="2560320"/>
            <a:ext cx="3840480" cy="420624"/>
          </a:xfrm>
          <a:prstGeom prst="roundRect">
            <a:avLst>
              <a:gd fmla="val 26087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640080" y="26334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lojaId: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450592" y="2651760"/>
            <a:ext cx="18288" cy="21945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2542032" y="263347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Filtros por unidade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02920" y="3063240"/>
            <a:ext cx="3840480" cy="420624"/>
          </a:xfrm>
          <a:prstGeom prst="roundRect">
            <a:avLst>
              <a:gd fmla="val 26087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640080" y="31363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atendenteId: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2450592" y="3154680"/>
            <a:ext cx="18288" cy="21945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2542032" y="31363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Performance por atendente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502920" y="3566160"/>
            <a:ext cx="3840480" cy="420624"/>
          </a:xfrm>
          <a:prstGeom prst="roundRect">
            <a:avLst>
              <a:gd fmla="val 26087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640080" y="363931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createdAt: -1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2450592" y="3657600"/>
            <a:ext cx="18288" cy="21945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2542032" y="36393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Ordenações por data desc.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4663440" y="1600200"/>
            <a:ext cx="4114800" cy="2606040"/>
          </a:xfrm>
          <a:prstGeom prst="roundRect">
            <a:avLst>
              <a:gd fmla="val 4211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4663440" y="1600200"/>
            <a:ext cx="73152" cy="260604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4846320" y="16733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negociacoes  /  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800600" y="2057400"/>
            <a:ext cx="3840480" cy="566928"/>
          </a:xfrm>
          <a:prstGeom prst="roundRect">
            <a:avLst>
              <a:gd fmla="val 19355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4919472" y="2112264"/>
            <a:ext cx="1005840" cy="182880"/>
          </a:xfrm>
          <a:prstGeom prst="roundRect">
            <a:avLst>
              <a:gd fmla="val 20000" name="adj"/>
            </a:avLst>
          </a:prstGeom>
          <a:solidFill>
            <a:srgbClr val="0D1117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4919472" y="21122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negociacoes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919472" y="2331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leadId: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784848" y="2130552"/>
            <a:ext cx="18288" cy="40233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6876288" y="214884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Join negociação → 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4800600" y="2715768"/>
            <a:ext cx="3840480" cy="566928"/>
          </a:xfrm>
          <a:prstGeom prst="roundRect">
            <a:avLst>
              <a:gd fmla="val 19355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4919472" y="2770632"/>
            <a:ext cx="1005840" cy="182880"/>
          </a:xfrm>
          <a:prstGeom prst="roundRect">
            <a:avLst>
              <a:gd fmla="val 20000" name="adj"/>
            </a:avLst>
          </a:prstGeom>
          <a:solidFill>
            <a:srgbClr val="0D1117"/>
          </a:solidFill>
          <a:ln cap="flat" cmpd="sng" w="9525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4919472" y="277063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F0C040"/>
                </a:solidFill>
                <a:latin typeface="Consolas"/>
                <a:ea typeface="Consolas"/>
                <a:cs typeface="Consolas"/>
                <a:sym typeface="Consolas"/>
              </a:rPr>
              <a:t>logs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919472" y="29900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referenciaId: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6784848" y="2788920"/>
            <a:ext cx="18288" cy="40233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876288" y="280720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Auditoria por entidade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800600" y="3374136"/>
            <a:ext cx="3840480" cy="566928"/>
          </a:xfrm>
          <a:prstGeom prst="roundRect">
            <a:avLst>
              <a:gd fmla="val 19355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4919472" y="3429000"/>
            <a:ext cx="1005840" cy="182880"/>
          </a:xfrm>
          <a:prstGeom prst="roundRect">
            <a:avLst>
              <a:gd fmla="val 20000" name="adj"/>
            </a:avLst>
          </a:prstGeom>
          <a:solidFill>
            <a:srgbClr val="0D1117"/>
          </a:solidFill>
          <a:ln cap="flat" cmpd="sng" w="9525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4919472" y="34290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00ED64"/>
                </a:solidFill>
                <a:latin typeface="Consolas"/>
                <a:ea typeface="Consolas"/>
                <a:cs typeface="Consolas"/>
                <a:sym typeface="Consolas"/>
              </a:rPr>
              <a:t>negociacoes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4919472" y="3648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leadId:1, ativo:1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784848" y="3447288"/>
            <a:ext cx="18288" cy="402336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6876288" y="346557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Índice parcial — 1 ativa/lead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65760" y="4315968"/>
            <a:ext cx="8412480" cy="384048"/>
          </a:xfrm>
          <a:prstGeom prst="roundRect">
            <a:avLst>
              <a:gd fmla="val 28571" name="adj"/>
            </a:avLst>
          </a:prstGeom>
          <a:solidFill>
            <a:srgbClr val="00684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3799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/>
          <p:nvPr/>
        </p:nvSpPr>
        <p:spPr>
          <a:xfrm>
            <a:off x="868680" y="4370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Benefício:  leitura direta pelo índice  →  sem varredura completa  →  menor tempo de resposta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AGGREGATIONS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Pipeline de Aggregation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fmla="val 21818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548640" y="107899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Aggregations processam documentos em etapas (pipeline) para gerar indicadores, agrupamentos e métricas analíticas.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365760" y="1664208"/>
            <a:ext cx="4114800" cy="1508760"/>
          </a:xfrm>
          <a:prstGeom prst="roundRect">
            <a:avLst>
              <a:gd fmla="val 7273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365760" y="1664208"/>
            <a:ext cx="73152" cy="150876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566928" y="175564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Leads por Origem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566928" y="210312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$group: { _id: '$origem',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total: { $sum: 1 }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$sort: { total: -1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709160" y="1664208"/>
            <a:ext cx="4114800" cy="1508760"/>
          </a:xfrm>
          <a:prstGeom prst="roundRect">
            <a:avLst>
              <a:gd fmla="val 7273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4709160" y="1664208"/>
            <a:ext cx="73152" cy="150876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4910328" y="175564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Leads por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4910328" y="210312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$group: { _id: '$status',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total: { $sum: 1 }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$sort: { total: -1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365760" y="3355848"/>
            <a:ext cx="4114800" cy="1508760"/>
          </a:xfrm>
          <a:prstGeom prst="roundRect">
            <a:avLst>
              <a:gd fmla="val 7273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365760" y="3355848"/>
            <a:ext cx="73152" cy="1508760"/>
          </a:xfrm>
          <a:prstGeom prst="rect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566928" y="34472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Leads por Atendente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66928" y="379476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$group: { _id: '$atendenteId',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totalLeads: { $sum: 1 }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$sort: { totalLeads: -1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4709160" y="3355848"/>
            <a:ext cx="4114800" cy="1508760"/>
          </a:xfrm>
          <a:prstGeom prst="roundRect">
            <a:avLst>
              <a:gd fmla="val 7273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4709160" y="3355848"/>
            <a:ext cx="73152" cy="1508760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4910328" y="34472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Leads por Importância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4910328" y="379476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$match: { importancia: { $exists: true }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$group: { _id: '$importancia',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total: { $sum: 1 }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365760" y="5056632"/>
            <a:ext cx="8412480" cy="0"/>
          </a:xfrm>
          <a:prstGeom prst="roundRect">
            <a:avLst>
              <a:gd fmla="val 16667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365760" y="137160"/>
            <a:ext cx="1920240" cy="237744"/>
          </a:xfrm>
          <a:prstGeom prst="roundRect">
            <a:avLst>
              <a:gd fmla="val 23077" name="adj"/>
            </a:avLst>
          </a:prstGeom>
          <a:solidFill>
            <a:srgbClr val="00684A"/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365760" y="137160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CHECKLIST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Atendimento dos Requisitos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365760" y="1097280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1" name="Google Shape;4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704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5"/>
          <p:cNvSpPr/>
          <p:nvPr/>
        </p:nvSpPr>
        <p:spPr>
          <a:xfrm>
            <a:off x="914400" y="1161288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Coleções obrigatórias criadas: clientes, leads, usuarios, negociacoes, logs e lojas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365760" y="1618488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91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5"/>
          <p:cNvSpPr/>
          <p:nvPr/>
        </p:nvSpPr>
        <p:spPr>
          <a:xfrm>
            <a:off x="914400" y="168249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Inserção mínima: 5 clientes · 10 leads · 10 negociações · 5 usuários · 10 logs · 3 lojas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65760" y="2139696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2128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5"/>
          <p:cNvSpPr/>
          <p:nvPr/>
        </p:nvSpPr>
        <p:spPr>
          <a:xfrm>
            <a:off x="914400" y="2203704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Embedding aplicado em negociacoes.historico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365760" y="2660904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0" name="Google Shape;4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7340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5"/>
          <p:cNvSpPr/>
          <p:nvPr/>
        </p:nvSpPr>
        <p:spPr>
          <a:xfrm>
            <a:off x="914400" y="2724912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Referencing aplicado entre todas as entidades reutilizáveis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365760" y="3182112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2552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5"/>
          <p:cNvSpPr/>
          <p:nvPr/>
        </p:nvSpPr>
        <p:spPr>
          <a:xfrm>
            <a:off x="914400" y="3246120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Consultas com $and, $or, $gt, $lt, $exists, projeção, sort e paginação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365760" y="3703320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C2333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6" name="Google Shape;4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7764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5"/>
          <p:cNvSpPr/>
          <p:nvPr/>
        </p:nvSpPr>
        <p:spPr>
          <a:xfrm>
            <a:off x="914400" y="3767328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Aggregations para indicadores: por origem, status, atendente e importância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365760" y="4224528"/>
            <a:ext cx="8412480" cy="438912"/>
          </a:xfrm>
          <a:prstGeom prst="roundRect">
            <a:avLst>
              <a:gd fmla="val 25000" name="adj"/>
            </a:avLst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9" name="Google Shape;4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297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5"/>
          <p:cNvSpPr/>
          <p:nvPr/>
        </p:nvSpPr>
        <p:spPr>
          <a:xfrm>
            <a:off x="914400" y="428853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Evidências visuais em MongoDB Compass incluídas na documentação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5C"/>
          </a:solidFill>
          <a:ln cap="flat" cmpd="sng" w="12700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0684A">
              <a:alpha val="30196"/>
            </a:srgbClr>
          </a:solidFill>
          <a:ln cap="flat" cmpd="sng" w="9525">
            <a:solidFill>
              <a:srgbClr val="00A3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8" name="Google Shape;498;p1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6858000" y="64008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6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731520" y="2331720"/>
            <a:ext cx="2743200" cy="36576"/>
          </a:xfrm>
          <a:prstGeom prst="rect">
            <a:avLst/>
          </a:prstGeom>
          <a:solidFill>
            <a:srgbClr val="00ED64"/>
          </a:solidFill>
          <a:ln cap="flat" cmpd="sng" w="12700">
            <a:solidFill>
              <a:srgbClr val="00ED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731520" y="2514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Sistema de Gestão de Leads  ·  1000 Valle Multimarcas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731520" y="30632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Equipe ErrorSquad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731520" y="356616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Felipe Pacheco  ·  Leonardo Irineu  ·  Carlos Eduardo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João Vitor  ·  Arthur Facchinetti  ·  Caio Araujo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731520" y="4434840"/>
            <a:ext cx="2286000" cy="502920"/>
          </a:xfrm>
          <a:prstGeom prst="roundRect">
            <a:avLst>
              <a:gd fmla="val 21818" name="adj"/>
            </a:avLst>
          </a:prstGeom>
          <a:solidFill>
            <a:srgbClr val="00684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5" name="Google Shape;5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50799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6"/>
          <p:cNvSpPr/>
          <p:nvPr/>
        </p:nvSpPr>
        <p:spPr>
          <a:xfrm>
            <a:off x="1261872" y="45262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D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ED64"/>
                </a:solidFill>
                <a:latin typeface="Calibri"/>
                <a:ea typeface="Calibri"/>
                <a:cs typeface="Calibri"/>
                <a:sym typeface="Calibri"/>
              </a:rPr>
              <a:t>MongoDB  · 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5943600" y="4572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FATEC Jacareí  ·  BDN 2026/1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2026-06-01T22:20:43Z</dcterms:created>
  <dc:creator>PptxGenJS</dc:creator>
</cp:coreProperties>
</file>